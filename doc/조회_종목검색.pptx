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54106-C595-AE88-6B97-7A980DC47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57086C-8A8B-7C6C-5757-DAD3DE23B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00E1D-F27A-505F-9F77-AF93ADC8F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D08-03F3-40F1-8C84-64A26478939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1F71F8-7AA3-BEA2-010B-59C92758D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41F95E-BBD5-A190-660C-053A2775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6A50-684B-47E9-9A7C-5EFBC4C676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597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EBEA7A-1A4F-BD9A-C409-2B01D0F1B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EB2BC0-07CB-FE0E-FE72-381382E25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8CE161-8376-97E0-7F96-36633C639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D08-03F3-40F1-8C84-64A26478939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7AEE14-2AC8-20FD-4418-0AC2FA820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359AB6-75E3-AE47-5E4C-2AB6B155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6A50-684B-47E9-9A7C-5EFBC4C676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53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7B318-B6B7-CF67-660D-5026BAD00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3125AF-C2CC-EAD0-233E-5B2444BB9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A8D4AF-B351-82A8-4065-0548804E2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D08-03F3-40F1-8C84-64A26478939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A4EA43-D5A2-6087-545F-DE6155DB5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49928C-8366-E44F-547B-BC1760D85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6A50-684B-47E9-9A7C-5EFBC4C676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EDDF79-7F1F-5890-EEEF-73BAA2CFB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D183A4-287D-CBA2-E005-5E2945E509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EED534-5EF0-0BE1-5C65-B263244F3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71B2DE-BE17-385B-B469-9DE716D4A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D08-03F3-40F1-8C84-64A26478939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909A59-A3C7-7025-E80F-7AF7D790C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CDA6D1-A91D-B9B0-3712-C3E3EC730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6A50-684B-47E9-9A7C-5EFBC4C676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73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793B5-3836-4DC5-3452-5F178DECE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AE521C-480B-2422-EFED-F88DF4322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34264F-F4E6-68E1-3A26-CD1C771E7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0708718-C787-550E-0012-FFD70053C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5887D2-41E7-6AC9-2668-18617DD982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28DCB2-E26C-D442-A426-FA4CE48E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D08-03F3-40F1-8C84-64A26478939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E6D7BB-3047-278B-0BC9-6A4CEE360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92A99B2-83DE-6C68-EB02-1A4232D9C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6A50-684B-47E9-9A7C-5EFBC4C676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797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64C127-5155-FF61-5C3B-08E5E1B3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C6C2AD-EFA5-0B48-68B9-E1F8BA370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D08-03F3-40F1-8C84-64A26478939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3C9275-615A-989B-6642-89D4D3C82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652E35-EC27-AC0A-E826-787F6D62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6A50-684B-47E9-9A7C-5EFBC4C676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720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E711115-E0BD-1EF8-41F6-C3829ECDB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D08-03F3-40F1-8C84-64A26478939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78462C0-6343-A83B-443C-DDC19CFC1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358C86-D4CF-3ED1-2987-1520158B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6A50-684B-47E9-9A7C-5EFBC4C676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612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73698-ACBE-154D-4CD8-019A6A3A3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331A19-CEF9-6953-09E9-B503E0F55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FDA7AC-26BB-933C-325B-3C75A01A7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EF3C45-D0CC-4AD4-F584-D89CD970F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D08-03F3-40F1-8C84-64A26478939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1D3D5F-FC57-6365-894E-284588D4A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504503-2B52-42CF-2113-D974260AC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6A50-684B-47E9-9A7C-5EFBC4C676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59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02011-6538-070F-B803-6BF89067E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2F6F5D-6337-E0C4-DFDF-2810AEB9A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3DFDEF-F164-5E06-A079-2684B7FFB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5EA42-38BC-59D1-D50E-62801C1B3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D08-03F3-40F1-8C84-64A26478939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F8FCAB-ADA8-80EC-CE1B-6DF795928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9938EB-D7AB-F1CD-476F-4520E676C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6A50-684B-47E9-9A7C-5EFBC4C676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214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31778-8A17-EFC4-2D36-24C2F999B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29A111-3417-00CC-13E6-BBA05F81A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5C9D17-A1EB-8422-3C37-607F10E29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D08-03F3-40F1-8C84-64A26478939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11AD11-2CBC-EC90-1E18-1328EA96B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8EA48C-78EE-BFC5-D73A-710BAE983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6A50-684B-47E9-9A7C-5EFBC4C676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72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1A322BB-C07A-7765-8CBF-0BABFCE5F6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81C812-71CA-A577-97C6-87F560AA5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B4D0B2-6B7A-0882-A71A-3243F8ADA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DD08-03F3-40F1-8C84-64A26478939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AD78F2-71C9-D35D-8BB0-BB80E8EAC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8C3970-5181-57E7-1E96-62C25EB2E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A6A50-684B-47E9-9A7C-5EFBC4C676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492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195D1B-20E1-46FC-B10D-67C6B4452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39F8D0-9DBF-929A-F4CC-069CD4E04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A7417E-E4E7-7BD5-3156-6FECD7176D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54DD08-03F3-40F1-8C84-64A26478939B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7D05C1-3FEB-3454-89DC-C88DE1AF1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DABF33-39FC-E72C-01C8-4779C13C2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A6A50-684B-47E9-9A7C-5EFBC4C676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137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1563932-184B-B08F-E14A-94FD3017A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108141"/>
              </p:ext>
            </p:extLst>
          </p:nvPr>
        </p:nvGraphicFramePr>
        <p:xfrm>
          <a:off x="646259" y="3462866"/>
          <a:ext cx="11033547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76221">
                  <a:extLst>
                    <a:ext uri="{9D8B030D-6E8A-4147-A177-3AD203B41FA5}">
                      <a16:colId xmlns:a16="http://schemas.microsoft.com/office/drawing/2014/main" val="922580345"/>
                    </a:ext>
                  </a:extLst>
                </a:gridCol>
                <a:gridCol w="1576221">
                  <a:extLst>
                    <a:ext uri="{9D8B030D-6E8A-4147-A177-3AD203B41FA5}">
                      <a16:colId xmlns:a16="http://schemas.microsoft.com/office/drawing/2014/main" val="3516957641"/>
                    </a:ext>
                  </a:extLst>
                </a:gridCol>
                <a:gridCol w="1576221">
                  <a:extLst>
                    <a:ext uri="{9D8B030D-6E8A-4147-A177-3AD203B41FA5}">
                      <a16:colId xmlns:a16="http://schemas.microsoft.com/office/drawing/2014/main" val="590184818"/>
                    </a:ext>
                  </a:extLst>
                </a:gridCol>
                <a:gridCol w="1576221">
                  <a:extLst>
                    <a:ext uri="{9D8B030D-6E8A-4147-A177-3AD203B41FA5}">
                      <a16:colId xmlns:a16="http://schemas.microsoft.com/office/drawing/2014/main" val="3717887985"/>
                    </a:ext>
                  </a:extLst>
                </a:gridCol>
                <a:gridCol w="1576221">
                  <a:extLst>
                    <a:ext uri="{9D8B030D-6E8A-4147-A177-3AD203B41FA5}">
                      <a16:colId xmlns:a16="http://schemas.microsoft.com/office/drawing/2014/main" val="122298293"/>
                    </a:ext>
                  </a:extLst>
                </a:gridCol>
                <a:gridCol w="1576221">
                  <a:extLst>
                    <a:ext uri="{9D8B030D-6E8A-4147-A177-3AD203B41FA5}">
                      <a16:colId xmlns:a16="http://schemas.microsoft.com/office/drawing/2014/main" val="949828831"/>
                    </a:ext>
                  </a:extLst>
                </a:gridCol>
                <a:gridCol w="1576221">
                  <a:extLst>
                    <a:ext uri="{9D8B030D-6E8A-4147-A177-3AD203B41FA5}">
                      <a16:colId xmlns:a16="http://schemas.microsoft.com/office/drawing/2014/main" val="10850238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종목코드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종목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시총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조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전일종가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시장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업종명</a:t>
                      </a:r>
                      <a:endParaRPr lang="ko-KR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갱신일자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04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005930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삼성전자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1,596.69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dirty="0"/>
                        <a:t>100,800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거래소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전기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전자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2025.12.02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905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3227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316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865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074797"/>
                  </a:ext>
                </a:extLst>
              </a:tr>
            </a:tbl>
          </a:graphicData>
        </a:graphic>
      </p:graphicFrame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C9DB88C-17E2-164E-626B-A913846DABB4}"/>
              </a:ext>
            </a:extLst>
          </p:cNvPr>
          <p:cNvSpPr/>
          <p:nvPr/>
        </p:nvSpPr>
        <p:spPr>
          <a:xfrm>
            <a:off x="646259" y="857840"/>
            <a:ext cx="11033547" cy="1696825"/>
          </a:xfrm>
          <a:prstGeom prst="roundRect">
            <a:avLst>
              <a:gd name="adj" fmla="val 455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763DB2B-FD3C-D18D-A8E6-3BFC9B163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536343"/>
              </p:ext>
            </p:extLst>
          </p:nvPr>
        </p:nvGraphicFramePr>
        <p:xfrm>
          <a:off x="863076" y="1059032"/>
          <a:ext cx="10599916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9979">
                  <a:extLst>
                    <a:ext uri="{9D8B030D-6E8A-4147-A177-3AD203B41FA5}">
                      <a16:colId xmlns:a16="http://schemas.microsoft.com/office/drawing/2014/main" val="1949974056"/>
                    </a:ext>
                  </a:extLst>
                </a:gridCol>
                <a:gridCol w="2649979">
                  <a:extLst>
                    <a:ext uri="{9D8B030D-6E8A-4147-A177-3AD203B41FA5}">
                      <a16:colId xmlns:a16="http://schemas.microsoft.com/office/drawing/2014/main" val="3326389121"/>
                    </a:ext>
                  </a:extLst>
                </a:gridCol>
                <a:gridCol w="2649979">
                  <a:extLst>
                    <a:ext uri="{9D8B030D-6E8A-4147-A177-3AD203B41FA5}">
                      <a16:colId xmlns:a16="http://schemas.microsoft.com/office/drawing/2014/main" val="2326290473"/>
                    </a:ext>
                  </a:extLst>
                </a:gridCol>
                <a:gridCol w="2649979">
                  <a:extLst>
                    <a:ext uri="{9D8B030D-6E8A-4147-A177-3AD203B41FA5}">
                      <a16:colId xmlns:a16="http://schemas.microsoft.com/office/drawing/2014/main" val="198486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종목코드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종목명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7160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시총범위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천억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시장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거래소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9763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8E5B0CE-AB42-FB65-2123-C1ADC3697EBE}"/>
              </a:ext>
            </a:extLst>
          </p:cNvPr>
          <p:cNvSpPr txBox="1"/>
          <p:nvPr/>
        </p:nvSpPr>
        <p:spPr>
          <a:xfrm>
            <a:off x="4034671" y="5787215"/>
            <a:ext cx="3485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&lt;&lt; &lt; 1 2 3 4 5 6 7 8 9 0 &gt; &gt;&gt;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67F489-F434-D43B-C187-AD03CF9CF278}"/>
              </a:ext>
            </a:extLst>
          </p:cNvPr>
          <p:cNvSpPr/>
          <p:nvPr/>
        </p:nvSpPr>
        <p:spPr>
          <a:xfrm>
            <a:off x="9285400" y="2011331"/>
            <a:ext cx="970961" cy="358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초기화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792D68-5FC9-9755-1E03-1F260AC9C51B}"/>
              </a:ext>
            </a:extLst>
          </p:cNvPr>
          <p:cNvSpPr/>
          <p:nvPr/>
        </p:nvSpPr>
        <p:spPr>
          <a:xfrm>
            <a:off x="10492031" y="2011331"/>
            <a:ext cx="970961" cy="3582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1228F6D-4E89-3DD7-B3D8-2A4D8A065AB5}"/>
              </a:ext>
            </a:extLst>
          </p:cNvPr>
          <p:cNvSpPr/>
          <p:nvPr/>
        </p:nvSpPr>
        <p:spPr>
          <a:xfrm>
            <a:off x="3572760" y="1470583"/>
            <a:ext cx="1074654" cy="2866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2E81F3B-B584-FBA9-97A0-A5819E1D8DFA}"/>
              </a:ext>
            </a:extLst>
          </p:cNvPr>
          <p:cNvSpPr/>
          <p:nvPr/>
        </p:nvSpPr>
        <p:spPr>
          <a:xfrm>
            <a:off x="3572759" y="1106487"/>
            <a:ext cx="2523241" cy="2866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7BA7B6-2681-C978-6159-1225F32DD9DA}"/>
              </a:ext>
            </a:extLst>
          </p:cNvPr>
          <p:cNvSpPr/>
          <p:nvPr/>
        </p:nvSpPr>
        <p:spPr>
          <a:xfrm>
            <a:off x="5021346" y="1470583"/>
            <a:ext cx="1074654" cy="2866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3B0037-42DE-95EE-E064-CB79BA0006BE}"/>
              </a:ext>
            </a:extLst>
          </p:cNvPr>
          <p:cNvSpPr txBox="1"/>
          <p:nvPr/>
        </p:nvSpPr>
        <p:spPr>
          <a:xfrm>
            <a:off x="4689378" y="1416984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02BDA5-C3FB-333C-8963-5F143DD5A742}"/>
              </a:ext>
            </a:extLst>
          </p:cNvPr>
          <p:cNvSpPr/>
          <p:nvPr/>
        </p:nvSpPr>
        <p:spPr>
          <a:xfrm>
            <a:off x="8870623" y="1106487"/>
            <a:ext cx="2523241" cy="2866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910ADFA-2B04-3399-1790-6690B8733BA0}"/>
              </a:ext>
            </a:extLst>
          </p:cNvPr>
          <p:cNvSpPr/>
          <p:nvPr/>
        </p:nvSpPr>
        <p:spPr>
          <a:xfrm>
            <a:off x="8870623" y="1474132"/>
            <a:ext cx="2523241" cy="2866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C9282E21-74F3-6889-7D78-9C587E2FBDCB}"/>
              </a:ext>
            </a:extLst>
          </p:cNvPr>
          <p:cNvSpPr/>
          <p:nvPr/>
        </p:nvSpPr>
        <p:spPr>
          <a:xfrm rot="10800000">
            <a:off x="11117343" y="1529945"/>
            <a:ext cx="207390" cy="19571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30E9638-9302-75BC-5822-C788A83778D2}"/>
              </a:ext>
            </a:extLst>
          </p:cNvPr>
          <p:cNvSpPr/>
          <p:nvPr/>
        </p:nvSpPr>
        <p:spPr>
          <a:xfrm>
            <a:off x="10840825" y="2865428"/>
            <a:ext cx="838981" cy="2866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10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이등변 삼각형 17">
            <a:extLst>
              <a:ext uri="{FF2B5EF4-FFF2-40B4-BE49-F238E27FC236}">
                <a16:creationId xmlns:a16="http://schemas.microsoft.com/office/drawing/2014/main" id="{520207E0-2194-37BE-A595-470541B4383D}"/>
              </a:ext>
            </a:extLst>
          </p:cNvPr>
          <p:cNvSpPr/>
          <p:nvPr/>
        </p:nvSpPr>
        <p:spPr>
          <a:xfrm rot="10800000">
            <a:off x="11403285" y="2921241"/>
            <a:ext cx="207390" cy="195713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19DD57-DDB9-44E7-D856-C29A19C12A83}"/>
              </a:ext>
            </a:extLst>
          </p:cNvPr>
          <p:cNvSpPr txBox="1"/>
          <p:nvPr/>
        </p:nvSpPr>
        <p:spPr>
          <a:xfrm>
            <a:off x="646259" y="203246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조회 </a:t>
            </a:r>
            <a:r>
              <a:rPr lang="en-US" altLang="ko-KR" dirty="0"/>
              <a:t>&gt; </a:t>
            </a:r>
            <a:r>
              <a:rPr lang="ko-KR" altLang="en-US" dirty="0"/>
              <a:t>종목 검색</a:t>
            </a:r>
          </a:p>
        </p:txBody>
      </p:sp>
    </p:spTree>
    <p:extLst>
      <p:ext uri="{BB962C8B-B14F-4D97-AF65-F5344CB8AC3E}">
        <p14:creationId xmlns:p14="http://schemas.microsoft.com/office/powerpoint/2010/main" val="1550079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09960E-B15A-94E3-85FE-8599A187A3AF}"/>
              </a:ext>
            </a:extLst>
          </p:cNvPr>
          <p:cNvSpPr txBox="1"/>
          <p:nvPr/>
        </p:nvSpPr>
        <p:spPr>
          <a:xfrm>
            <a:off x="412505" y="120936"/>
            <a:ext cx="30176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항목 설명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시장</a:t>
            </a:r>
            <a:endParaRPr lang="en-US" altLang="ko-KR" dirty="0"/>
          </a:p>
          <a:p>
            <a:r>
              <a:rPr lang="ko-KR" altLang="en-US" dirty="0"/>
              <a:t>  </a:t>
            </a:r>
            <a:r>
              <a:rPr lang="ko-KR" altLang="en-US" dirty="0" err="1"/>
              <a:t>셀렉트박스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거래소</a:t>
            </a:r>
            <a:r>
              <a:rPr lang="en-US" altLang="ko-KR" dirty="0"/>
              <a:t>:0, </a:t>
            </a:r>
            <a:r>
              <a:rPr lang="ko-KR" altLang="en-US" dirty="0"/>
              <a:t>코스닥</a:t>
            </a:r>
            <a:r>
              <a:rPr lang="en-US" altLang="ko-KR" dirty="0"/>
              <a:t>:10, ETF:8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094CA-9D12-0EF1-A186-F00AC2890EA7}"/>
              </a:ext>
            </a:extLst>
          </p:cNvPr>
          <p:cNvSpPr txBox="1"/>
          <p:nvPr/>
        </p:nvSpPr>
        <p:spPr>
          <a:xfrm>
            <a:off x="412505" y="3608854"/>
            <a:ext cx="430117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이벤트 설명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초기화</a:t>
            </a:r>
            <a:endParaRPr lang="en-US" altLang="ko-KR" dirty="0"/>
          </a:p>
          <a:p>
            <a:r>
              <a:rPr lang="ko-KR" altLang="en-US" dirty="0"/>
              <a:t>  조회 조건 입력 값을 모두 초기화 한다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조회</a:t>
            </a:r>
            <a:endParaRPr lang="en-US" altLang="ko-KR" dirty="0"/>
          </a:p>
          <a:p>
            <a:r>
              <a:rPr lang="en-US" altLang="ko-KR" dirty="0"/>
              <a:t>  </a:t>
            </a:r>
            <a:r>
              <a:rPr lang="ko-KR" altLang="en-US" dirty="0"/>
              <a:t>해당 조건으로 목록을 조회한다</a:t>
            </a:r>
          </a:p>
        </p:txBody>
      </p:sp>
    </p:spTree>
    <p:extLst>
      <p:ext uri="{BB962C8B-B14F-4D97-AF65-F5344CB8AC3E}">
        <p14:creationId xmlns:p14="http://schemas.microsoft.com/office/powerpoint/2010/main" val="1439070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1E1B031-65E3-3D20-CBE5-F84DEC28E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05" y="490268"/>
            <a:ext cx="7954485" cy="31436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12894D-6D2A-9BB8-7714-C950288A5BCA}"/>
              </a:ext>
            </a:extLst>
          </p:cNvPr>
          <p:cNvSpPr txBox="1"/>
          <p:nvPr/>
        </p:nvSpPr>
        <p:spPr>
          <a:xfrm>
            <a:off x="412505" y="12093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테이블 정보</a:t>
            </a:r>
          </a:p>
        </p:txBody>
      </p:sp>
    </p:spTree>
    <p:extLst>
      <p:ext uri="{BB962C8B-B14F-4D97-AF65-F5344CB8AC3E}">
        <p14:creationId xmlns:p14="http://schemas.microsoft.com/office/powerpoint/2010/main" val="470435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와이드스크린</PresentationFormat>
  <Paragraphs>35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nterarosa</dc:creator>
  <cp:lastModifiedBy>nterarosa</cp:lastModifiedBy>
  <cp:revision>1</cp:revision>
  <dcterms:created xsi:type="dcterms:W3CDTF">2025-12-02T08:06:29Z</dcterms:created>
  <dcterms:modified xsi:type="dcterms:W3CDTF">2025-12-02T08:06:49Z</dcterms:modified>
</cp:coreProperties>
</file>